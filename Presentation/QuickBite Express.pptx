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bold.fntdata"/><Relationship Id="rId11" Type="http://schemas.openxmlformats.org/officeDocument/2006/relationships/slide" Target="slides/slide7.xml"/><Relationship Id="rId22" Type="http://schemas.openxmlformats.org/officeDocument/2006/relationships/font" Target="fonts/RobotoMedium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Medium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schemas.openxmlformats.org/officeDocument/2006/relationships/font" Target="fonts/RobotoMedium-regular.fnt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793790" y="282344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QuickBite Express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793790" y="3622953"/>
            <a:ext cx="412027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Crisis Recovery Analytics Report</a:t>
            </a:r>
            <a:endParaRPr b="0" i="0" sz="22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793790" y="4317444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Data-driven analysis of the June 2025 crisis impact and recovery performance across customer behavior, order trends, delivery operations, and customer experience.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793790" y="1368862"/>
            <a:ext cx="1741051" cy="426244"/>
          </a:xfrm>
          <a:prstGeom prst="roundRect">
            <a:avLst>
              <a:gd fmla="val 17880" name="adj"/>
            </a:avLst>
          </a:prstGeom>
          <a:solidFill>
            <a:srgbClr val="0F16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929878" y="1436846"/>
            <a:ext cx="146887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CRISIS OVERVIEW</a:t>
            </a:r>
            <a:endParaRPr b="0" i="0" sz="14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188583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Perfect Storm</a:t>
            </a:r>
            <a:endParaRPr b="0" i="0" sz="44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30436" y="2934772"/>
            <a:ext cx="6571417" cy="3925848"/>
          </a:xfrm>
          <a:prstGeom prst="roundRect">
            <a:avLst>
              <a:gd fmla="val 4160" name="adj"/>
            </a:avLst>
          </a:prstGeom>
          <a:solidFill>
            <a:srgbClr val="FFC7C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857250" y="316158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 Medium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Happened</a:t>
            </a:r>
            <a:endParaRPr b="0" i="0" sz="2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857250" y="3742730"/>
            <a:ext cx="611778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June 2025 brought a dual crisis: food safety concerns at partner restaurants combined with a week-long delivery outage during monsoon season.</a:t>
            </a:r>
            <a:endParaRPr b="0" i="0" sz="17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7599521" y="3189923"/>
            <a:ext cx="3008948" cy="1775817"/>
          </a:xfrm>
          <a:prstGeom prst="roundRect">
            <a:avLst>
              <a:gd fmla="val 536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833955" y="3424357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Orders Collapsed</a:t>
            </a:r>
            <a:endParaRPr b="0" i="0" sz="22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833955" y="4005501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Sharp decline in daily orders and revenue</a:t>
            </a:r>
            <a:endParaRPr b="0" i="0" sz="17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10835283" y="3189923"/>
            <a:ext cx="3008948" cy="1775817"/>
          </a:xfrm>
          <a:prstGeom prst="roundRect">
            <a:avLst>
              <a:gd fmla="val 536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1069717" y="3424357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Customers Left</a:t>
            </a:r>
            <a:endParaRPr b="0" i="0" sz="2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11069717" y="4005501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Significant drop in satisfaction ratings</a:t>
            </a:r>
            <a:endParaRPr b="0" i="0" sz="17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599521" y="5192554"/>
            <a:ext cx="6244709" cy="1412915"/>
          </a:xfrm>
          <a:prstGeom prst="roundRect">
            <a:avLst>
              <a:gd fmla="val 6743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833955" y="54269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Partners Lost</a:t>
            </a:r>
            <a:endParaRPr b="0" i="0" sz="22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7833955" y="6008132"/>
            <a:ext cx="577584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Restaurant partners moved to competitors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 Objectives</a:t>
            </a:r>
            <a:endParaRPr b="0" i="0" sz="44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7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93790" y="3377803"/>
            <a:ext cx="284868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Measure Crisis Impact</a:t>
            </a:r>
            <a:endParaRPr b="0" i="0" sz="22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Quantify effects on orders, revenue, and customer base</a:t>
            </a:r>
            <a:endParaRPr b="0" i="0" sz="17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7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216962" y="3377803"/>
            <a:ext cx="29360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Identify Delivery Issues</a:t>
            </a:r>
            <a:endParaRPr b="0" i="0" sz="220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Analyze what's affecting delivery performance</a:t>
            </a:r>
            <a:endParaRPr b="0" i="0" sz="17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7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9640133" y="3377803"/>
            <a:ext cx="348174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Track Customer Experience</a:t>
            </a:r>
            <a:endParaRPr b="0" i="0" sz="220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Monitor satisfaction and retention trends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75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Monitor City Recovery</a:t>
            </a:r>
            <a:endParaRPr b="0" i="0" sz="22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Track progress across all markets</a:t>
            </a:r>
            <a:endParaRPr b="0" i="0" sz="175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75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Recommend Actions</a:t>
            </a:r>
            <a:endParaRPr b="0" i="0" sz="220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Provide data-backed recovery strategies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1091684" y="714375"/>
            <a:ext cx="5479852" cy="563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50"/>
              <a:buFont typeface="Roboto"/>
              <a:buNone/>
            </a:pPr>
            <a:r>
              <a:rPr b="0" i="0" lang="en-US" sz="3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Numbers Tell the Story</a:t>
            </a:r>
            <a:endParaRPr b="0" i="0" sz="3550" u="none" cap="none" strike="noStrike"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684" y="1654612"/>
            <a:ext cx="6003488" cy="28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3005137" y="4475202"/>
            <a:ext cx="180380" cy="180380"/>
          </a:xfrm>
          <a:prstGeom prst="roundRect">
            <a:avLst>
              <a:gd fmla="val 10139" name="adj"/>
            </a:avLst>
          </a:prstGeom>
          <a:solidFill>
            <a:srgbClr val="354D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246477" y="4475202"/>
            <a:ext cx="770692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Pre-Crisis</a:t>
            </a:r>
            <a:endParaRPr b="0" i="0" sz="140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4169569" y="4475202"/>
            <a:ext cx="180380" cy="180380"/>
          </a:xfrm>
          <a:prstGeom prst="roundRect">
            <a:avLst>
              <a:gd fmla="val 10139" name="adj"/>
            </a:avLst>
          </a:prstGeom>
          <a:solidFill>
            <a:srgbClr val="909D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410908" y="4475202"/>
            <a:ext cx="45219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Crisis</a:t>
            </a:r>
            <a:endParaRPr b="0" i="0" sz="1400" u="none" cap="none" strike="noStrike"/>
          </a:p>
        </p:txBody>
      </p:sp>
      <p:pic>
        <p:nvPicPr>
          <p:cNvPr descr="preencoded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848" y="1654612"/>
            <a:ext cx="6003488" cy="28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9456301" y="4475202"/>
            <a:ext cx="180380" cy="180380"/>
          </a:xfrm>
          <a:prstGeom prst="roundRect">
            <a:avLst>
              <a:gd fmla="val 10139" name="adj"/>
            </a:avLst>
          </a:prstGeom>
          <a:solidFill>
            <a:srgbClr val="354D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9697641" y="4475202"/>
            <a:ext cx="770692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Pre-Crisis</a:t>
            </a:r>
            <a:endParaRPr b="0" i="0" sz="14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10620732" y="4475202"/>
            <a:ext cx="180380" cy="180380"/>
          </a:xfrm>
          <a:prstGeom prst="roundRect">
            <a:avLst>
              <a:gd fmla="val 10139" name="adj"/>
            </a:avLst>
          </a:prstGeom>
          <a:solidFill>
            <a:srgbClr val="909D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862072" y="4475202"/>
            <a:ext cx="45219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Crisis</a:t>
            </a:r>
            <a:endParaRPr b="0" i="0" sz="140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1091684" y="5392936"/>
            <a:ext cx="5365790" cy="450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Comprehensive Impact Summary</a:t>
            </a:r>
            <a:endParaRPr b="0" i="0" sz="28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1091684" y="6058972"/>
            <a:ext cx="12447032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The data clearly illustrates a severe downturn during the crisis period. Orders plummeted by </a:t>
            </a: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61%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dropping from 113,806 to just 35,360. Even more critically, revenue experienced a drastic </a:t>
            </a: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71% loss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resulting in a direct financial impact of </a:t>
            </a:r>
            <a:r>
              <a:rPr b="1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₹2.67 crore</a:t>
            </a: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during this challenging time.</a:t>
            </a:r>
            <a:endParaRPr b="0" i="0" sz="14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1091684" y="6738223"/>
            <a:ext cx="12447032" cy="776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This sharp decline signifies a major negative impact on overall business activity and earnings, highlighting the urgent need for strategic recovery efforts. Comparing these figures to our pre-crisis baseline, it's evident that the crisis has significantly eroded market performance and financial stability, underscoring the critical importance of effective measures to restore growth and customer confidence.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6280190" y="222813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 Exodus</a:t>
            </a:r>
            <a:endParaRPr b="0" i="0" sz="445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6280190" y="3390424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850"/>
              <a:buFont typeface="Roboto"/>
              <a:buNone/>
            </a:pPr>
            <a:r>
              <a:rPr b="0" i="0" lang="en-US" sz="5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84%</a:t>
            </a:r>
            <a:endParaRPr b="0" i="0" sz="58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6280190" y="4422219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Churn Rate</a:t>
            </a:r>
            <a:endParaRPr b="0" i="0" sz="22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6280190" y="4912638"/>
            <a:ext cx="23298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72,865 of 86,824 customers did not return</a:t>
            </a:r>
            <a:endParaRPr b="0" i="0" sz="17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8893493" y="3390424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850"/>
              <a:buFont typeface="Roboto"/>
              <a:buNone/>
            </a:pPr>
            <a:r>
              <a:rPr b="0" i="0" lang="en-US" sz="5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14K</a:t>
            </a:r>
            <a:endParaRPr b="0" i="0" sz="58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8893493" y="4422219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Returned</a:t>
            </a:r>
            <a:endParaRPr b="0" i="0" sz="22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8893493" y="4912638"/>
            <a:ext cx="23298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Only 13,959 customers came back during crisis</a:t>
            </a:r>
            <a:endParaRPr b="0" i="0" sz="175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11506795" y="3390424"/>
            <a:ext cx="2329815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5850"/>
              <a:buFont typeface="Roboto"/>
              <a:buNone/>
            </a:pPr>
            <a:r>
              <a:rPr b="0" i="0" lang="en-US" sz="5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87K</a:t>
            </a:r>
            <a:endParaRPr b="0" i="0" sz="58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11506795" y="4422219"/>
            <a:ext cx="232981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Lost Base</a:t>
            </a:r>
            <a:endParaRPr b="0" i="0" sz="220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11506795" y="4912638"/>
            <a:ext cx="23298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Active customers before June 2025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73787" y="629960"/>
            <a:ext cx="8229005" cy="690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Roboto"/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Delivery Performance Breakdown</a:t>
            </a:r>
            <a:endParaRPr b="0" i="0" sz="43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73787" y="1406962"/>
            <a:ext cx="2828568" cy="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Roboto"/>
              <a:buNone/>
            </a:pPr>
            <a:r>
              <a:rPr b="0" i="0" lang="en-US" sz="2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 Delays Worsened</a:t>
            </a:r>
            <a:endParaRPr b="0" i="0" sz="21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773787" y="2075617"/>
            <a:ext cx="13082826" cy="698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Average delivery time jumped from 39.52 minutes pre-crisis to 60.12 minutes during crisis—a 52% increase. Recovery phase showed minimal improvement at 60.05 minutes.</a:t>
            </a:r>
            <a:endParaRPr b="0" i="0" sz="170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73787" y="3016448"/>
            <a:ext cx="13082826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Late deliveries increased cancellation rates from 6.47% (on-time) to 8.01% (late), directly impacting customer satisfaction.</a:t>
            </a:r>
            <a:endParaRPr b="0" i="0" sz="170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2617351" y="5045154"/>
            <a:ext cx="2719387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4350"/>
              <a:buFont typeface="Roboto"/>
              <a:buNone/>
            </a:pPr>
            <a:r>
              <a:rPr b="0" i="0" lang="en-US" sz="4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63%</a:t>
            </a:r>
            <a:endParaRPr b="0" i="0" sz="4350" u="none" cap="none" strike="noStrike"/>
          </a:p>
        </p:txBody>
      </p:sp>
      <p:pic>
        <p:nvPicPr>
          <p:cNvPr descr="preencoded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8980" y="3663315"/>
            <a:ext cx="3316367" cy="331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773787" y="7250430"/>
            <a:ext cx="6406753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Orders delivered late</a:t>
            </a:r>
            <a:endParaRPr b="0" i="0" sz="170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9293423" y="5045154"/>
            <a:ext cx="2719387" cy="5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4350"/>
              <a:buFont typeface="Roboto"/>
              <a:buNone/>
            </a:pPr>
            <a:r>
              <a:rPr b="0" i="0" lang="en-US" sz="43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8%</a:t>
            </a:r>
            <a:endParaRPr b="0" i="0" sz="4350" u="none" cap="none" strike="noStrike"/>
          </a:p>
        </p:txBody>
      </p:sp>
      <p:pic>
        <p:nvPicPr>
          <p:cNvPr descr="preencoded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053" y="3663315"/>
            <a:ext cx="3316367" cy="3316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7449860" y="7250430"/>
            <a:ext cx="6406753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Late order cancellations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793790" y="1282541"/>
            <a:ext cx="761071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 Ratings Plummeted</a:t>
            </a:r>
            <a:endParaRPr b="0" i="0" sz="445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793790" y="4205526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3968353" y="352508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3728442" y="395037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3813512" y="399288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265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2565916" y="24449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Pre-Crisis</a:t>
            </a:r>
            <a:endParaRPr b="0" i="0" sz="220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1020604" y="2935367"/>
            <a:ext cx="592597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4.5 stars</a:t>
            </a: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– Strong customer satisfaction</a:t>
            </a:r>
            <a:endParaRPr b="0" i="0" sz="175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7299841" y="4205526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7059930" y="395037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7145000" y="399288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265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5897523" y="51127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Crisis Period</a:t>
            </a:r>
            <a:endParaRPr b="0" i="0" sz="220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4352092" y="5603200"/>
            <a:ext cx="592609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2.5 stars</a:t>
            </a: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– Sharp 44% drop in ratings</a:t>
            </a:r>
            <a:endParaRPr b="0" i="0" sz="175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10631448" y="352508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313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10391537" y="395037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10476607" y="399288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Roboto"/>
              <a:buNone/>
            </a:pPr>
            <a:r>
              <a:rPr b="0" i="0" lang="en-US" sz="26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265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9229130" y="24449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Roboto"/>
              <a:buNone/>
            </a:pPr>
            <a:r>
              <a:rPr b="0" i="0" lang="en-US" sz="22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Recovery Phase</a:t>
            </a:r>
            <a:endParaRPr b="0" i="0" sz="2200" u="none" cap="none" strike="noStrike"/>
          </a:p>
        </p:txBody>
      </p:sp>
      <p:sp>
        <p:nvSpPr>
          <p:cNvPr id="177" name="Google Shape;177;p19"/>
          <p:cNvSpPr/>
          <p:nvPr/>
        </p:nvSpPr>
        <p:spPr>
          <a:xfrm>
            <a:off x="7683698" y="2935367"/>
            <a:ext cx="592609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1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2.4 stars</a:t>
            </a: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– Ratings remained low, no improvement</a:t>
            </a:r>
            <a:endParaRPr b="0" i="0" sz="1750" u="none" cap="none" strike="noStrike"/>
          </a:p>
        </p:txBody>
      </p:sp>
      <p:sp>
        <p:nvSpPr>
          <p:cNvPr id="178" name="Google Shape;178;p19"/>
          <p:cNvSpPr/>
          <p:nvPr/>
        </p:nvSpPr>
        <p:spPr>
          <a:xfrm>
            <a:off x="793790" y="622125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Customer experience did not recover even as operations stabilized, indicating deeper trust and quality issues that need addressing.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2293382" y="415528"/>
            <a:ext cx="3639026" cy="4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Roboto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City Impact Analysis</a:t>
            </a:r>
            <a:endParaRPr b="0" i="0" sz="2850" u="none" cap="none" strike="noStrike"/>
          </a:p>
        </p:txBody>
      </p:sp>
      <p:pic>
        <p:nvPicPr>
          <p:cNvPr descr="preencoded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1177" y="1057156"/>
            <a:ext cx="2354342" cy="235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3018592" y="3528179"/>
            <a:ext cx="1819513" cy="227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Chennai – Worst Hit</a:t>
            </a:r>
            <a:endParaRPr b="0" i="0" sz="140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2293382" y="3811548"/>
            <a:ext cx="3270052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62.48% decline in orders, dropping from 2,307 to 866 average orders</a:t>
            </a:r>
            <a:endParaRPr b="0" i="0" sz="1100" u="none" cap="none" strike="noStrike"/>
          </a:p>
        </p:txBody>
      </p:sp>
      <p:pic>
        <p:nvPicPr>
          <p:cNvPr descr="preencoded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7910" y="1057156"/>
            <a:ext cx="2354342" cy="235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6405324" y="3528179"/>
            <a:ext cx="1819513" cy="227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Kolkata</a:t>
            </a:r>
            <a:endParaRPr b="0" i="0" sz="140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5680115" y="3811548"/>
            <a:ext cx="3270052" cy="1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61.49% decline, falling from 2,094 to 807 orders</a:t>
            </a:r>
            <a:endParaRPr b="0" i="0" sz="1100" u="none" cap="none" strike="noStrike"/>
          </a:p>
        </p:txBody>
      </p:sp>
      <p:pic>
        <p:nvPicPr>
          <p:cNvPr descr="preencoded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4643" y="1057156"/>
            <a:ext cx="2354461" cy="235446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9792176" y="3528298"/>
            <a:ext cx="1819513" cy="227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Bengaluru</a:t>
            </a:r>
            <a:endParaRPr b="0" i="0" sz="140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9066848" y="3811667"/>
            <a:ext cx="3270171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61.46% decline despite being largest market (5,644 to 2,175)</a:t>
            </a:r>
            <a:endParaRPr b="0" i="0" sz="1100" u="none" cap="none" strike="noStrike"/>
          </a:p>
        </p:txBody>
      </p:sp>
      <p:pic>
        <p:nvPicPr>
          <p:cNvPr descr="preencoded.png" id="194" name="Google Shape;1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7910" y="4380905"/>
            <a:ext cx="2354342" cy="235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6405324" y="6851928"/>
            <a:ext cx="1819513" cy="227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Mumbai &amp; Delhi</a:t>
            </a:r>
            <a:endParaRPr b="0" i="0" sz="1400" u="none" cap="none" strike="noStrike"/>
          </a:p>
        </p:txBody>
      </p:sp>
      <p:sp>
        <p:nvSpPr>
          <p:cNvPr id="196" name="Google Shape;196;p20"/>
          <p:cNvSpPr/>
          <p:nvPr/>
        </p:nvSpPr>
        <p:spPr>
          <a:xfrm>
            <a:off x="5680115" y="7135297"/>
            <a:ext cx="3270052" cy="382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Both saw ~61% declines, showing widespread impact</a:t>
            </a:r>
            <a:endParaRPr b="0" i="0" sz="1100" u="none" cap="none" strike="noStrike"/>
          </a:p>
        </p:txBody>
      </p:sp>
      <p:sp>
        <p:nvSpPr>
          <p:cNvPr id="197" name="Google Shape;197;p20"/>
          <p:cNvSpPr/>
          <p:nvPr/>
        </p:nvSpPr>
        <p:spPr>
          <a:xfrm>
            <a:off x="2293382" y="7622738"/>
            <a:ext cx="10043636" cy="1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All cities experienced severe declines between 59.86% and 62.48%, indicating the crisis impact was uniform across regions.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1620083" y="973693"/>
            <a:ext cx="1367076" cy="296466"/>
          </a:xfrm>
          <a:prstGeom prst="roundRect">
            <a:avLst>
              <a:gd fmla="val 18709" name="adj"/>
            </a:avLst>
          </a:prstGeom>
          <a:noFill/>
          <a:ln cap="flat" cmpd="sng" w="9525">
            <a:solidFill>
              <a:srgbClr val="5A6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726644" y="1030724"/>
            <a:ext cx="1153954" cy="18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ED8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5A6ED8"/>
                </a:solidFill>
                <a:latin typeface="Roboto"/>
                <a:ea typeface="Roboto"/>
                <a:cs typeface="Roboto"/>
                <a:sym typeface="Roboto"/>
              </a:rPr>
              <a:t>RECOVERY STATUS</a:t>
            </a:r>
            <a:endParaRPr b="0" i="0" sz="1000" u="none" cap="none" strike="noStrike"/>
          </a:p>
        </p:txBody>
      </p:sp>
      <p:sp>
        <p:nvSpPr>
          <p:cNvPr id="205" name="Google Shape;205;p21"/>
          <p:cNvSpPr/>
          <p:nvPr/>
        </p:nvSpPr>
        <p:spPr>
          <a:xfrm>
            <a:off x="1620083" y="1318141"/>
            <a:ext cx="4946094" cy="515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Partial Recovery Underway</a:t>
            </a:r>
            <a:endParaRPr b="0" i="0" sz="3200" u="none" cap="none" strike="noStrike"/>
          </a:p>
        </p:txBody>
      </p:sp>
      <p:pic>
        <p:nvPicPr>
          <p:cNvPr descr="preencoded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83" y="3034308"/>
            <a:ext cx="7262693" cy="2865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2749905" y="4026581"/>
            <a:ext cx="1444766" cy="196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Crisis</a:t>
            </a:r>
            <a:endParaRPr b="0" i="0" sz="1350" u="none" cap="none" strike="noStrike"/>
          </a:p>
        </p:txBody>
      </p:sp>
      <p:sp>
        <p:nvSpPr>
          <p:cNvPr id="208" name="Google Shape;208;p21"/>
          <p:cNvSpPr/>
          <p:nvPr/>
        </p:nvSpPr>
        <p:spPr>
          <a:xfrm>
            <a:off x="2749905" y="4279061"/>
            <a:ext cx="1444766" cy="27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June: sharp drop in orders and revenue</a:t>
            </a:r>
            <a:endParaRPr b="0" i="0" sz="1050" u="none" cap="none" strike="noStrike"/>
          </a:p>
        </p:txBody>
      </p:sp>
      <p:sp>
        <p:nvSpPr>
          <p:cNvPr id="209" name="Google Shape;209;p21"/>
          <p:cNvSpPr/>
          <p:nvPr/>
        </p:nvSpPr>
        <p:spPr>
          <a:xfrm>
            <a:off x="4546090" y="4383023"/>
            <a:ext cx="1444767" cy="196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Stabilization</a:t>
            </a:r>
            <a:endParaRPr b="0" i="0" sz="1350" u="none" cap="none" strike="noStrike"/>
          </a:p>
        </p:txBody>
      </p:sp>
      <p:sp>
        <p:nvSpPr>
          <p:cNvPr id="210" name="Google Shape;210;p21"/>
          <p:cNvSpPr/>
          <p:nvPr/>
        </p:nvSpPr>
        <p:spPr>
          <a:xfrm>
            <a:off x="4546090" y="4635502"/>
            <a:ext cx="1444767" cy="271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July–Aug: operations steady, partial recovery</a:t>
            </a:r>
            <a:endParaRPr b="0" i="0" sz="1050" u="none" cap="none" strike="noStrike"/>
          </a:p>
        </p:txBody>
      </p:sp>
      <p:sp>
        <p:nvSpPr>
          <p:cNvPr id="211" name="Google Shape;211;p21"/>
          <p:cNvSpPr/>
          <p:nvPr/>
        </p:nvSpPr>
        <p:spPr>
          <a:xfrm>
            <a:off x="6363242" y="4026581"/>
            <a:ext cx="1444767" cy="196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Early Recovery</a:t>
            </a:r>
            <a:endParaRPr b="0" i="0" sz="1350" u="none" cap="none" strike="noStrike"/>
          </a:p>
        </p:txBody>
      </p:sp>
      <p:sp>
        <p:nvSpPr>
          <p:cNvPr id="212" name="Google Shape;212;p21"/>
          <p:cNvSpPr/>
          <p:nvPr/>
        </p:nvSpPr>
        <p:spPr>
          <a:xfrm>
            <a:off x="6363242" y="4279061"/>
            <a:ext cx="1444767" cy="407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Sept: gradual demand and revenue improvement</a:t>
            </a:r>
            <a:endParaRPr b="0" i="0" sz="1050" u="none" cap="none" strike="noStrike"/>
          </a:p>
        </p:txBody>
      </p:sp>
      <p:sp>
        <p:nvSpPr>
          <p:cNvPr id="213" name="Google Shape;213;p21"/>
          <p:cNvSpPr/>
          <p:nvPr/>
        </p:nvSpPr>
        <p:spPr>
          <a:xfrm>
            <a:off x="1620083" y="6034564"/>
            <a:ext cx="7262693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Recovery orders at 8.78K represent only 38.6% of pre-crisis levels.</a:t>
            </a:r>
            <a:endParaRPr b="0" i="0" sz="1250" u="none" cap="none" strike="noStrike"/>
          </a:p>
        </p:txBody>
      </p:sp>
      <p:sp>
        <p:nvSpPr>
          <p:cNvPr id="214" name="Google Shape;214;p21"/>
          <p:cNvSpPr/>
          <p:nvPr/>
        </p:nvSpPr>
        <p:spPr>
          <a:xfrm>
            <a:off x="9293066" y="2149197"/>
            <a:ext cx="3724751" cy="1209794"/>
          </a:xfrm>
          <a:prstGeom prst="roundRect">
            <a:avLst>
              <a:gd fmla="val 5731" name="adj"/>
            </a:avLst>
          </a:prstGeom>
          <a:solidFill>
            <a:srgbClr val="000018">
              <a:alpha val="94901"/>
            </a:srgbClr>
          </a:solidFill>
          <a:ln cap="flat" cmpd="sng" w="228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9480947" y="2337078"/>
            <a:ext cx="2063353" cy="25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Revenue Stabilized</a:t>
            </a:r>
            <a:endParaRPr b="0" i="0" sz="1600" u="none" cap="none" strike="noStrike"/>
          </a:p>
        </p:txBody>
      </p:sp>
      <p:sp>
        <p:nvSpPr>
          <p:cNvPr id="216" name="Google Shape;216;p21"/>
          <p:cNvSpPr/>
          <p:nvPr/>
        </p:nvSpPr>
        <p:spPr>
          <a:xfrm>
            <a:off x="9480947" y="2715101"/>
            <a:ext cx="3348990" cy="456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₹8.14M recovered, monthly range ₹2.64M–₹2.89M</a:t>
            </a:r>
            <a:endParaRPr b="0" i="0" sz="125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9293066" y="3479125"/>
            <a:ext cx="3724751" cy="1209794"/>
          </a:xfrm>
          <a:prstGeom prst="roundRect">
            <a:avLst>
              <a:gd fmla="val 5731" name="adj"/>
            </a:avLst>
          </a:prstGeom>
          <a:solidFill>
            <a:srgbClr val="000018">
              <a:alpha val="94901"/>
            </a:srgbClr>
          </a:solidFill>
          <a:ln cap="flat" cmpd="sng" w="228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9480947" y="3667006"/>
            <a:ext cx="2063353" cy="25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Ratings Still Low</a:t>
            </a:r>
            <a:endParaRPr b="0" i="0" sz="1600" u="none" cap="none" strike="noStrike"/>
          </a:p>
        </p:txBody>
      </p:sp>
      <p:sp>
        <p:nvSpPr>
          <p:cNvPr id="219" name="Google Shape;219;p21"/>
          <p:cNvSpPr/>
          <p:nvPr/>
        </p:nvSpPr>
        <p:spPr>
          <a:xfrm>
            <a:off x="9480947" y="4045029"/>
            <a:ext cx="3348990" cy="456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Peaked at 2.69 in July, declined to 2.31 by September</a:t>
            </a:r>
            <a:endParaRPr b="0" i="0" sz="1250" u="none" cap="none" strike="noStrike"/>
          </a:p>
        </p:txBody>
      </p:sp>
      <p:sp>
        <p:nvSpPr>
          <p:cNvPr id="220" name="Google Shape;220;p21"/>
          <p:cNvSpPr/>
          <p:nvPr/>
        </p:nvSpPr>
        <p:spPr>
          <a:xfrm>
            <a:off x="9293066" y="4809053"/>
            <a:ext cx="3724751" cy="1209794"/>
          </a:xfrm>
          <a:prstGeom prst="roundRect">
            <a:avLst>
              <a:gd fmla="val 5731" name="adj"/>
            </a:avLst>
          </a:prstGeom>
          <a:solidFill>
            <a:srgbClr val="000018">
              <a:alpha val="94901"/>
            </a:srgbClr>
          </a:solidFill>
          <a:ln cap="flat" cmpd="sng" w="228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9480947" y="4996934"/>
            <a:ext cx="2063353" cy="25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Delivery Unchanged</a:t>
            </a:r>
            <a:endParaRPr b="0" i="0" sz="160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9480947" y="5374958"/>
            <a:ext cx="3348990" cy="456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Time remains around 60 minutes, no improvement</a:t>
            </a:r>
            <a:endParaRPr b="0" i="0" sz="125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9293066" y="6138982"/>
            <a:ext cx="3724751" cy="981789"/>
          </a:xfrm>
          <a:prstGeom prst="roundRect">
            <a:avLst>
              <a:gd fmla="val 7062" name="adj"/>
            </a:avLst>
          </a:prstGeom>
          <a:solidFill>
            <a:srgbClr val="000018">
              <a:alpha val="94901"/>
            </a:srgbClr>
          </a:solidFill>
          <a:ln cap="flat" cmpd="sng" w="22850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9480947" y="6326862"/>
            <a:ext cx="2063353" cy="25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City Recovery</a:t>
            </a:r>
            <a:endParaRPr b="0" i="0" sz="1600" u="none" cap="none" strike="noStrike"/>
          </a:p>
        </p:txBody>
      </p:sp>
      <p:sp>
        <p:nvSpPr>
          <p:cNvPr id="225" name="Google Shape;225;p21"/>
          <p:cNvSpPr/>
          <p:nvPr/>
        </p:nvSpPr>
        <p:spPr>
          <a:xfrm>
            <a:off x="9480947" y="6704886"/>
            <a:ext cx="3348990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Pune leads at 40%, Chennai lags at 37%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798909" y="1158954"/>
            <a:ext cx="7923848" cy="590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Roboto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Path Forward: Key Recommendations</a:t>
            </a:r>
            <a:endParaRPr b="0" i="0" sz="370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798909" y="2063591"/>
            <a:ext cx="3140154" cy="2336483"/>
          </a:xfrm>
          <a:prstGeom prst="roundRect">
            <a:avLst>
              <a:gd fmla="val 339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995363" y="2260044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215" y="2415897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995363" y="2983825"/>
            <a:ext cx="2360890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Fix Delivery First</a:t>
            </a:r>
            <a:endParaRPr b="0" i="0" sz="1850" u="none" cap="none" strike="noStrike"/>
          </a:p>
        </p:txBody>
      </p:sp>
      <p:sp>
        <p:nvSpPr>
          <p:cNvPr id="236" name="Google Shape;236;p22"/>
          <p:cNvSpPr/>
          <p:nvPr/>
        </p:nvSpPr>
        <p:spPr>
          <a:xfrm>
            <a:off x="995363" y="3373160"/>
            <a:ext cx="2747248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Improve rider availability and route optimization to restore 40-minute delivery times</a:t>
            </a:r>
            <a:endParaRPr b="0" i="0" sz="1450" u="none" cap="none" strike="noStrike"/>
          </a:p>
        </p:txBody>
      </p:sp>
      <p:sp>
        <p:nvSpPr>
          <p:cNvPr id="237" name="Google Shape;237;p22"/>
          <p:cNvSpPr/>
          <p:nvPr/>
        </p:nvSpPr>
        <p:spPr>
          <a:xfrm>
            <a:off x="4096226" y="2063591"/>
            <a:ext cx="3140273" cy="2336483"/>
          </a:xfrm>
          <a:prstGeom prst="roundRect">
            <a:avLst>
              <a:gd fmla="val 339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4292679" y="2260044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8532" y="2415897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/>
          <p:nvPr/>
        </p:nvSpPr>
        <p:spPr>
          <a:xfrm>
            <a:off x="4292679" y="2983825"/>
            <a:ext cx="2360890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Win Back Customers</a:t>
            </a:r>
            <a:endParaRPr b="0" i="0" sz="185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4292679" y="3373160"/>
            <a:ext cx="2747367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Launch targeted campaigns for 72K churned customers with discounts and loyalty rewards</a:t>
            </a:r>
            <a:endParaRPr b="0" i="0" sz="1450" u="none" cap="none" strike="noStrike"/>
          </a:p>
        </p:txBody>
      </p:sp>
      <p:sp>
        <p:nvSpPr>
          <p:cNvPr id="242" name="Google Shape;242;p22"/>
          <p:cNvSpPr/>
          <p:nvPr/>
        </p:nvSpPr>
        <p:spPr>
          <a:xfrm>
            <a:off x="7393662" y="2063591"/>
            <a:ext cx="3140273" cy="2336483"/>
          </a:xfrm>
          <a:prstGeom prst="roundRect">
            <a:avLst>
              <a:gd fmla="val 339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7590115" y="2260044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5968" y="2415897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7590115" y="2983825"/>
            <a:ext cx="2557224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Focus Organic Channels</a:t>
            </a:r>
            <a:endParaRPr b="0" i="0" sz="1850" u="none" cap="none" strike="noStrike"/>
          </a:p>
        </p:txBody>
      </p:sp>
      <p:sp>
        <p:nvSpPr>
          <p:cNvPr id="246" name="Google Shape;246;p22"/>
          <p:cNvSpPr/>
          <p:nvPr/>
        </p:nvSpPr>
        <p:spPr>
          <a:xfrm>
            <a:off x="7590115" y="3373160"/>
            <a:ext cx="2747367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Shift budget to Organic (52K) and Referral (14K) channels that drive retention</a:t>
            </a:r>
            <a:endParaRPr b="0" i="0" sz="1450" u="none" cap="none" strike="noStrike"/>
          </a:p>
        </p:txBody>
      </p:sp>
      <p:sp>
        <p:nvSpPr>
          <p:cNvPr id="247" name="Google Shape;247;p22"/>
          <p:cNvSpPr/>
          <p:nvPr/>
        </p:nvSpPr>
        <p:spPr>
          <a:xfrm>
            <a:off x="10691098" y="2063591"/>
            <a:ext cx="3140273" cy="2336483"/>
          </a:xfrm>
          <a:prstGeom prst="roundRect">
            <a:avLst>
              <a:gd fmla="val 3395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10887551" y="2260044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43404" y="2415897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10887551" y="2983825"/>
            <a:ext cx="2583299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Rebuild Restaurant Base</a:t>
            </a:r>
            <a:endParaRPr b="0" i="0" sz="1850" u="none" cap="none" strike="noStrike"/>
          </a:p>
        </p:txBody>
      </p:sp>
      <p:sp>
        <p:nvSpPr>
          <p:cNvPr id="251" name="Google Shape;251;p22"/>
          <p:cNvSpPr/>
          <p:nvPr/>
        </p:nvSpPr>
        <p:spPr>
          <a:xfrm>
            <a:off x="10887551" y="3373160"/>
            <a:ext cx="2747367" cy="83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Re-activate 3.3K lost restaurants with incentives and operational support</a:t>
            </a:r>
            <a:endParaRPr b="0" i="0" sz="1450" u="none" cap="none" strike="noStrike"/>
          </a:p>
        </p:txBody>
      </p:sp>
      <p:sp>
        <p:nvSpPr>
          <p:cNvPr id="252" name="Google Shape;252;p22"/>
          <p:cNvSpPr/>
          <p:nvPr/>
        </p:nvSpPr>
        <p:spPr>
          <a:xfrm>
            <a:off x="798909" y="4557236"/>
            <a:ext cx="6437590" cy="2059662"/>
          </a:xfrm>
          <a:prstGeom prst="roundRect">
            <a:avLst>
              <a:gd fmla="val 385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995363" y="4753689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1215" y="4909542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/>
          <p:nvPr/>
        </p:nvSpPr>
        <p:spPr>
          <a:xfrm>
            <a:off x="995363" y="5477470"/>
            <a:ext cx="2978468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Prioritize High-Impact Cities</a:t>
            </a:r>
            <a:endParaRPr b="0" i="0" sz="185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995363" y="5866805"/>
            <a:ext cx="6044684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Support Chennai and Bengaluru with targeted recovery plans and commission relief</a:t>
            </a:r>
            <a:endParaRPr b="0" i="0" sz="145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7393662" y="4557236"/>
            <a:ext cx="6437709" cy="2059662"/>
          </a:xfrm>
          <a:prstGeom prst="roundRect">
            <a:avLst>
              <a:gd fmla="val 3852" name="adj"/>
            </a:avLst>
          </a:prstGeom>
          <a:solidFill>
            <a:srgbClr val="182567"/>
          </a:solidFill>
          <a:ln cap="flat" cmpd="sng" w="9525">
            <a:solidFill>
              <a:srgbClr val="313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590115" y="4753689"/>
            <a:ext cx="566618" cy="566618"/>
          </a:xfrm>
          <a:prstGeom prst="roundRect">
            <a:avLst>
              <a:gd fmla="val 16136243" name="adj"/>
            </a:avLst>
          </a:prstGeom>
          <a:solidFill>
            <a:srgbClr val="5A6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5968" y="4909542"/>
            <a:ext cx="254913" cy="25491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/>
          <p:nvPr/>
        </p:nvSpPr>
        <p:spPr>
          <a:xfrm>
            <a:off x="7590115" y="5477470"/>
            <a:ext cx="2360890" cy="2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b="0" i="0" lang="en-US" sz="18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Quality Over Volume</a:t>
            </a:r>
            <a:endParaRPr b="0" i="0" sz="1850" u="none" cap="none" strike="noStrike"/>
          </a:p>
        </p:txBody>
      </p:sp>
      <p:sp>
        <p:nvSpPr>
          <p:cNvPr id="261" name="Google Shape;261;p22"/>
          <p:cNvSpPr/>
          <p:nvPr/>
        </p:nvSpPr>
        <p:spPr>
          <a:xfrm>
            <a:off x="7590115" y="5866805"/>
            <a:ext cx="6044803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Focus on customer experience KPIs, not just order count during recovery</a:t>
            </a:r>
            <a:endParaRPr b="0" i="0" sz="1450" u="none" cap="none" strike="noStrike"/>
          </a:p>
        </p:txBody>
      </p:sp>
      <p:sp>
        <p:nvSpPr>
          <p:cNvPr id="262" name="Google Shape;262;p22"/>
          <p:cNvSpPr/>
          <p:nvPr/>
        </p:nvSpPr>
        <p:spPr>
          <a:xfrm>
            <a:off x="798909" y="6793825"/>
            <a:ext cx="13032462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b="0" i="1" lang="en-US" sz="1450" u="none" cap="none" strike="noStrik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Analysis powered by Python, SQL, and Power BI | January–September 2025 data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